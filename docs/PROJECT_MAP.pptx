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Actuarial Reserving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0"/>
                </a:solidFill>
              </a:defRPr>
            </a:pPr>
            <a:r>
              <a:t>Guida Visiva alla Struttura del Progetto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📐 Architettura del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1828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📊 DATA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0F0"/>
                </a:solidFill>
              </a:defRPr>
            </a:pPr>
            <a:r>
              <a:t>• Triangle Loader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• Sample Triangles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• CSV/Excel Import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371600"/>
            <a:ext cx="347472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508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🔗 CHAIN LADDER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0F0"/>
                </a:solidFill>
              </a:defRPr>
            </a:pPr>
            <a:r>
              <a:t>• Age-to-Age Factors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• Cumulative Factors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• Reserve Projection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371600"/>
            <a:ext cx="3474720" cy="1828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08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📈 STOCHASTIC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0F0"/>
                </a:solidFill>
              </a:defRPr>
            </a:pPr>
            <a:r>
              <a:t>• Mack Model (SE)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• Bootstrap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• Distributions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347472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94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🎯 ALTERNATIVE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0F0"/>
                </a:solidFill>
              </a:defRPr>
            </a:pPr>
            <a:r>
              <a:t>• Bornhuetter-Ferguson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• Cape Cod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• A Priori Methods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657600"/>
            <a:ext cx="3474720" cy="18288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3794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🔬 DIAGNOSTICS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251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0F0"/>
                </a:solidFill>
              </a:defRPr>
            </a:pPr>
            <a:r>
              <a:t>• Residual Analysis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• Volatility Tests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• Model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657600"/>
            <a:ext cx="3474720" cy="18288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3794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🤖 ML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251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0F0"/>
                </a:solidFill>
              </a:defRPr>
            </a:pPr>
            <a:r>
              <a:t>• Neural Network Anomaly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• GBM Factors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• Econ Scenarios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5760720"/>
            <a:ext cx="7616952" cy="822960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5852160"/>
            <a:ext cx="76169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🖥️ STREAMLIT DASHBOARD - Interactive Visualization &amp;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📚 Metodi di Reserving Implementati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Deterministici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✓ Chain-Ladder: Fattori di sviluppo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✓ Bornhuetter-Ferguson: A priori + esperienza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✓ Cape Cod: Stanard-Bühlmann method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✓ Tail Fitting: 7 metodi di curve fitting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65760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325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Stocastici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✓ Mack Model: Standard errors analitici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✓ Bootstrap: Distribuzioni empiriche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✓ Monte Carlo: Simulazione scenari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✓ Confidence Intervals: Log-normal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65760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325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✓ Neural Network: Anomaly detection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✓ Gradient Boosting: Factor prediction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✓ Economic Scenarios: Impact analysis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✓ Feature Importance: Model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🔄 Workflow Tipico di Analisi</a:t>
            </a:r>
          </a:p>
        </p:txBody>
      </p:sp>
      <p:sp>
        <p:nvSpPr>
          <p:cNvPr id="5" name="Oval 4"/>
          <p:cNvSpPr/>
          <p:nvPr/>
        </p:nvSpPr>
        <p:spPr>
          <a:xfrm>
            <a:off x="1051560" y="14630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7276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CARICA DATI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834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293B"/>
                </a:solidFill>
              </a:defRPr>
            </a:pPr>
            <a:r>
              <a:t>Seleziona triangolo sample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o carica CSV/Excel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79" y="1828800"/>
            <a:ext cx="365760" cy="27432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3279" y="14630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157276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39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ANALISI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834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293B"/>
                </a:solidFill>
              </a:defRPr>
            </a:pPr>
            <a:r>
              <a:t>Chain-Ladder + Mack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Calcola riserve e SE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00600" y="1828800"/>
            <a:ext cx="365760" cy="27432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14999" y="14630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4999" y="157276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3️⃣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DIAGNOSTICA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2834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293B"/>
                </a:solidFill>
              </a:defRPr>
            </a:pPr>
            <a:r>
              <a:t>Test residui e volatilità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Valida assunzioni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32319" y="1828800"/>
            <a:ext cx="365760" cy="27432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19" y="1463040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157276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4️⃣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STOCASTICO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2834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293B"/>
                </a:solidFill>
              </a:defRPr>
            </a:pPr>
            <a:r>
              <a:t>Bootstrap simulations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Distribuzioni riserve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64040" y="1828800"/>
            <a:ext cx="365760" cy="27432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78440" y="1463040"/>
            <a:ext cx="731520" cy="7315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157276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5️⃣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ML &amp; SCENARI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834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293B"/>
                </a:solidFill>
              </a:defRPr>
            </a:pPr>
            <a:r>
              <a:t>Anomaly detection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Economic scenarios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114800"/>
            <a:ext cx="10360152" cy="2286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5A82"/>
                </a:solidFill>
              </a:defRPr>
            </a:pPr>
            <a:r>
              <a:t>📤 OUTPUT FINALI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7548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• Riserve totali per anno di accadimento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Standard Error e Coefficienti di Variazione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Intervalli di confidenza (75%, 90%, 95%, 99%)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Distribuzioni simulate (P10, P50, P75, P90, P95, P99)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Scenario analysis con impatto economico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Report anomalie e suggerimenti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📁 Struttura del Progetto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  <a:latin typeface="Courier New"/>
              </a:defRPr>
            </a:pPr>
            <a:r>
              <a:t>reserving/</a:t>
            </a:r>
            <a:br/>
            <a:r>
              <a:t>├── src/</a:t>
            </a:r>
            <a:br/>
            <a:r>
              <a:t>│   ├── chain_ladder.py          # Core Chain-Ladder</a:t>
            </a:r>
            <a:br/>
            <a:r>
              <a:t>│   ├── data_loader.py           # Triangle loading utilities</a:t>
            </a:r>
            <a:br/>
            <a:r>
              <a:t>│   ├── dashboard/app.py         # Streamlit dashboard</a:t>
            </a:r>
            <a:br/>
            <a:r>
              <a:t>│   ├── stochastic_reserving/</a:t>
            </a:r>
            <a:br/>
            <a:r>
              <a:t>│   │   ├── mack_model.py        # Mack's stochastic model</a:t>
            </a:r>
            <a:br/>
            <a:r>
              <a:t>│   │   └── bootstrap.py         # Bootstrap simulations</a:t>
            </a:r>
            <a:br/>
            <a:r>
              <a:t>│   ├── alternative_methods/</a:t>
            </a:r>
            <a:br/>
            <a:r>
              <a:t>│   │   ├── bornhuetter_ferguson.py</a:t>
            </a:r>
            <a:br/>
            <a:r>
              <a:t>│   │   └── cape_cod.py</a:t>
            </a:r>
            <a:br/>
            <a:r>
              <a:t>│   ├── ml_models/</a:t>
            </a:r>
            <a:br/>
            <a:r>
              <a:t>│   │   ├── anomaly_detector.py  # Neural network</a:t>
            </a:r>
            <a:br/>
            <a:r>
              <a:t>│   │   └── gradient_boosting_factors.py</a:t>
            </a:r>
            <a:br/>
            <a:r>
              <a:t>│   ├── diagnostics/             # Model validation</a:t>
            </a:r>
            <a:br/>
            <a:r>
              <a:t>│   ├── scenario_analysis/       # Stress testing</a:t>
            </a:r>
            <a:br/>
            <a:r>
              <a:t>│   └── tail_fitting/            # Tail factor estimation</a:t>
            </a:r>
            <a:br/>
            <a:r>
              <a:t>├── data/</a:t>
            </a:r>
            <a:br/>
            <a:r>
              <a:t>│   ├── sample_triangles/        # Mack, Taylor/Ashe, etc.</a:t>
            </a:r>
            <a:br/>
            <a:r>
              <a:t>│   └── processed/               # Swiss Re data</a:t>
            </a:r>
            <a:br/>
            <a:r>
              <a:t>└── docs/</a:t>
            </a:r>
            <a:br/>
            <a:r>
              <a:t>    ├── CHEAT_SHEET.md</a:t>
            </a:r>
            <a:br/>
            <a:r>
              <a:t>    └── TECHNICAL_DOCUMENTATION.md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💻 Come Usare il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7293"/>
                </a:solidFill>
              </a:defRPr>
            </a:pPr>
            <a:r>
              <a:t>🖥️ Dashboard Interattiva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0292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7548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FFC8"/>
                </a:solidFill>
                <a:latin typeface="Courier New"/>
              </a:defRPr>
            </a:pPr>
            <a:r>
              <a:t>cd src/dashboard</a:t>
            </a:r>
            <a:br/>
            <a:r>
              <a:t>streamlit run app.py</a:t>
            </a:r>
            <a:br/>
            <a:br/>
            <a:r>
              <a:t># Aprirà browser con:</a:t>
            </a:r>
            <a:br/>
            <a:r>
              <a:t># - Selezione triangolo</a:t>
            </a:r>
            <a:br/>
            <a:r>
              <a:t># - Tutti i metodi di analisi</a:t>
            </a:r>
            <a:br/>
            <a:r>
              <a:t># - Grafici interattivi</a:t>
            </a:r>
            <a:br/>
            <a:r>
              <a:t># - Export risultati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7293"/>
                </a:solidFill>
              </a:defRPr>
            </a:pPr>
            <a:r>
              <a:t>🐍 Python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486400" cy="3931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21208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FFC8"/>
                </a:solidFill>
                <a:latin typeface="Courier New"/>
              </a:defRPr>
            </a:pPr>
            <a:r>
              <a:t>from data_loader import load_sample</a:t>
            </a:r>
            <a:br/>
            <a:r>
              <a:t>from chain_ladder import ChainLadder</a:t>
            </a:r>
            <a:br/>
            <a:r>
              <a:t>from stochastic_reserving.mack_model import MackChainLadder</a:t>
            </a:r>
            <a:br/>
            <a:br/>
            <a:r>
              <a:t># Carica triangolo</a:t>
            </a:r>
            <a:br/>
            <a:r>
              <a:t>triangle = load_sample('mack')</a:t>
            </a:r>
            <a:br/>
            <a:br/>
            <a:r>
              <a:t># Chain-Ladder base</a:t>
            </a:r>
            <a:br/>
            <a:r>
              <a:t>cl = ChainLadder(triangle)</a:t>
            </a:r>
            <a:br/>
            <a:r>
              <a:t>cl.run_full_analysis()</a:t>
            </a:r>
            <a:br/>
            <a:r>
              <a:t>print(f"Reserve: {cl.summary()['total_reserve']:,.0f}")</a:t>
            </a:r>
            <a:br/>
            <a:br/>
            <a:r>
              <a:t># Mack con uncertainty</a:t>
            </a:r>
            <a:br/>
            <a:r>
              <a:t>mack = MackChainLadder(triangle)</a:t>
            </a:r>
            <a:br/>
            <a:r>
              <a:t>mack.fit()</a:t>
            </a:r>
            <a:br/>
            <a:r>
              <a:t>print(mack.summary())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7293"/>
                </a:solidFill>
              </a:defRPr>
            </a:pPr>
            <a:r>
              <a:t>🤖 Machine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50292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4754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FFC8"/>
                </a:solidFill>
                <a:latin typeface="Courier New"/>
              </a:defRPr>
            </a:pPr>
            <a:r>
              <a:t>from ml_models import TriangleAnomalyDetector</a:t>
            </a:r>
            <a:br/>
            <a:r>
              <a:t>from ml_models import GBMFactorPredictor</a:t>
            </a:r>
            <a:br/>
            <a:br/>
            <a:r>
              <a:t># Anomaly Detection</a:t>
            </a:r>
            <a:br/>
            <a:r>
              <a:t>detector = TriangleAnomalyDetector()</a:t>
            </a:r>
            <a:br/>
            <a:r>
              <a:t>detector.fit(triangle)</a:t>
            </a:r>
            <a:br/>
            <a:r>
              <a:t>anomalies = detector.detect_anomalies()</a:t>
            </a:r>
            <a:br/>
            <a:br/>
            <a:r>
              <a:t># GBM Factors</a:t>
            </a:r>
            <a:br/>
            <a:r>
              <a:t>gbm = GBMFactorPredictor()</a:t>
            </a:r>
            <a:br/>
            <a:r>
              <a:t>gbm.fit(triangle)</a:t>
            </a:r>
            <a:br/>
            <a:r>
              <a:t>gbm.print_report()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🎯 Riepilogo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531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C8DCFF"/>
                </a:solidFill>
              </a:defRPr>
            </a:pPr>
            <a:r>
              <a:t>✓ Framework completo per Actuarial Reserving</a:t>
            </a:r>
          </a:p>
          <a:p>
            <a:pPr>
              <a:spcAft>
                <a:spcPts val="1600"/>
              </a:spcAft>
              <a:defRPr sz="2400">
                <a:solidFill>
                  <a:srgbClr val="C8DCFF"/>
                </a:solidFill>
              </a:defRPr>
            </a:pPr>
            <a:r>
              <a:t>✓ Metodi deterministici + stocastici + ML</a:t>
            </a:r>
          </a:p>
          <a:p>
            <a:pPr>
              <a:spcAft>
                <a:spcPts val="1600"/>
              </a:spcAft>
              <a:defRPr sz="2400">
                <a:solidFill>
                  <a:srgbClr val="C8DCFF"/>
                </a:solidFill>
              </a:defRPr>
            </a:pPr>
            <a:r>
              <a:t>✓ Dashboard interattiva Streamlit</a:t>
            </a:r>
          </a:p>
          <a:p>
            <a:pPr>
              <a:spcAft>
                <a:spcPts val="1600"/>
              </a:spcAft>
              <a:defRPr sz="2400">
                <a:solidFill>
                  <a:srgbClr val="C8DCFF"/>
                </a:solidFill>
              </a:defRPr>
            </a:pPr>
            <a:r>
              <a:t>✓ Supporto per triangoli custom</a:t>
            </a:r>
          </a:p>
          <a:p>
            <a:pPr>
              <a:spcAft>
                <a:spcPts val="1600"/>
              </a:spcAft>
              <a:defRPr sz="2400">
                <a:solidFill>
                  <a:srgbClr val="C8DCFF"/>
                </a:solidFill>
              </a:defRPr>
            </a:pPr>
            <a:r>
              <a:t>✓ Documentazione tecnica completa</a:t>
            </a:r>
          </a:p>
          <a:p>
            <a:pPr>
              <a:spcAft>
                <a:spcPts val="1600"/>
              </a:spcAft>
              <a:defRPr sz="2400">
                <a:solidFill>
                  <a:srgbClr val="C8DCFF"/>
                </a:solidFill>
              </a:defRPr>
            </a:pPr>
            <a:r>
              <a:t>✓ Pronto per estensione e produzione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6AAC8"/>
                </a:solidFill>
              </a:defRPr>
            </a:pPr>
            <a:r>
              <a:t>github.com/simon-act/reserving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